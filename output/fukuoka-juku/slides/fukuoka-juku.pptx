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0"/>
            <a:ext cx="8229600" cy="5143500"/>
          </a:xfrm>
          <a:prstGeom prst="rect">
            <a:avLst/>
          </a:prstGeom>
          <a:noFill/>
          <a:ln/>
        </p:spPr>
        <p:txBody>
          <a:bodyPr wrap="square" lIns="0" tIns="0" rIns="0" bIns="0" rtlCol="0" anchor="ctr"/>
          <a:lstStyle/>
          <a:p>
            <a:pPr algn="ctr" indent="0" marL="0">
              <a:buNone/>
            </a:pPr>
            <a:r>
              <a:rPr lang="en-US" sz="4000" b="1" dirty="0">
                <a:solidFill>
                  <a:srgbClr val="DC2626"/>
                </a:solidFill>
                <a:latin typeface="Noto Sans JP" pitchFamily="34" charset="0"/>
                <a:ea typeface="Noto Sans JP" pitchFamily="34" charset="-122"/>
                <a:cs typeface="Noto Sans JP" pitchFamily="34" charset="-120"/>
              </a:rPr>
              <a:t>福岡県 学習塾競合調査レポート（英進館・全教研・九大進学ゼミ・森田修学館）</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a:t>
            </a:r>
            <a:endParaRPr lang="en-US" sz="2400" dirty="0"/>
          </a:p>
        </p:txBody>
      </p:sp>
      <p:sp>
        <p:nvSpPr>
          <p:cNvPr id="3" name="Text 1"/>
          <p:cNvSpPr/>
          <p:nvPr/>
        </p:nvSpPr>
        <p:spPr>
          <a:xfrm>
            <a:off x="457200" y="1280160"/>
            <a:ext cx="8229600" cy="29813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本レポートは、福岡県を主戦場とする総合学習塾4社（英進館・全教研・九大進学ゼミ・森田修学館）を対象に、運営概要・コース・料金・合格実績・DX施策・地域評判を比較調査したものです。4社は規模・成り立ちが大きく異なります。英進館は九州最大級・独立系で売上百億円規模、全教研は1962年起源の老舗地場塾ながら2013年に学研グループの完全子会社となり、九大進学ゼミは福岡発祥ながら2007年に愛知拠点「さなる」グループの傘下に入りました。一方、森田修学館は福岡市内4校舎のみの独立系小規模塾です。4社中2社（全教研・九大進学ゼミ）が「地場発祥だが広域資本の傘下」という共通の資本構造を持つ点は、福岡の学習塾市場の構造を理解するうえで注目に値します。</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エグゼクティブサマリー（続き 1）</a:t>
            </a:r>
            <a:endParaRPr lang="en-US" sz="2400" dirty="0"/>
          </a:p>
        </p:txBody>
      </p:sp>
      <p:sp>
        <p:nvSpPr>
          <p:cNvPr id="3" name="Text 1"/>
          <p:cNvSpPr/>
          <p:nvPr/>
        </p:nvSpPr>
        <p:spPr>
          <a:xfrm>
            <a:off x="457200" y="1280160"/>
            <a:ext cx="8229600" cy="192405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あらかじめお断りしておくと、本レポートに登場する校舎数・生徒数・売上高等の数値は、出典によって幅があるもの、または非公開のため確認できなかったものが多く含まれます。特に九大進学ゼミについては、調査の過程で当初の前提情報（親会社の上場状況、関連ブランドの展開状況）に誤りがあったことが判明したため、本文中で正直に訂正しています。断定的な単一の数値としてではなく、目安・参考値としてご覧ください。</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4社比較表</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56260"/>
                <a:gridCol w="1774174"/>
                <a:gridCol w="2294313"/>
                <a:gridCol w="2294313"/>
                <a:gridCol w="1510541"/>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森田修学館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運営母体</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英進館株式会社（福岡市中央区、独立系）</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株式会社全教研（学研塾ホールディングス傘下、2013年完全子会社化）</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株式会社さなる九州（株式会社さなるグループ傘下、2007年資本提携）</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株式会社森田修学館（独立系、2015年法人化）</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創業/起源</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1979年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1962年（起源）／1977年（法人設立）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1985年（前身「九医生会」）</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1961年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4社比較表（続き 1）</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56260"/>
                <a:gridCol w="1774174"/>
                <a:gridCol w="2294313"/>
                <a:gridCol w="2294313"/>
                <a:gridCol w="1510541"/>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森田修学館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40970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展開エリア</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福岡中心に九州6県＋広島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北部九州5県（福岡・佐賀・長崎・大分・山口）</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九州7県＋山口</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福岡市内のみ</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8953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校舎数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約70教場（出典間で52〜70の幅）</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34〜70校舎（集計基準により変動、出典不一致）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88〜95校舎（出典間で幅）</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3〜4校舎（出典間で不一致）</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4社比較表（続き 2）</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356260"/>
                <a:gridCol w="1774174"/>
                <a:gridCol w="2294313"/>
                <a:gridCol w="2294313"/>
                <a:gridCol w="1510541"/>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森田修学館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8953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生徒数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41,240名（2025年夏、公式）</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約12,000人（時点不明）</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9,000〜10,000名超（出典により幅）</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売上高等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156.3億円（2026年3月期）／141億円（2024年3月期）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約35〜38.6億円（2021〜2023年9月期）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グループ計237.2億円（2025年、単体非公開）</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各社の特記事項</a:t>
            </a:r>
            <a:endParaRPr lang="en-US" sz="2000" dirty="0"/>
          </a:p>
        </p:txBody>
      </p:sp>
      <p:sp>
        <p:nvSpPr>
          <p:cNvPr id="3" name="Text 1"/>
          <p:cNvSpPr/>
          <p:nvPr/>
        </p:nvSpPr>
        <p:spPr>
          <a:xfrm>
            <a:off x="457200" y="1280160"/>
            <a:ext cx="8229600" cy="22479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M&amp;Aによる事業拡大が特徴的で、広島「鯉城学院」「田中学習会」、大阪「メビオ」、東京「YMS」（いずれも医学部予備校を含む）を傘下に持ちます。持株会社「英進館ホールディングス」の存在も確認され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1994年に福岡証券取引所へ上場しましたが2009年にMBOで非上場化し、2013年に学研グループ入りしました。本体・エコール（個別指導）・Z-UP（高校部）等のブランド区分により校舎数の集計方法が異なることが、出典間の数値のばらつきの一因とみられます。</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各社の特記事項（続き 1）</a:t>
            </a:r>
            <a:endParaRPr lang="en-US" sz="2000" dirty="0"/>
          </a:p>
        </p:txBody>
      </p:sp>
      <p:sp>
        <p:nvSpPr>
          <p:cNvPr id="3" name="Text 1"/>
          <p:cNvSpPr/>
          <p:nvPr/>
        </p:nvSpPr>
        <p:spPr>
          <a:xfrm>
            <a:off x="457200" y="1280160"/>
            <a:ext cx="8229600" cy="26574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依頼時点の前提情報（親会社「さなる」が上場企業である、ITTO個別指導学院を展開している）は、調査の結果いずれも誤りであることが判明しました。株式会社さなるは調査した範囲では未上場であり、ITTO個別指導学院はさなるグループとは無関係の別会社が運営しています。この点は本レポートで正直に訂正して記載し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森田修学館：</a:t>
            </a:r>
            <a:pPr indent="0" marL="0">
              <a:buNone/>
            </a:pPr>
            <a:r>
              <a:rPr lang="en-US" sz="1800" dirty="0">
                <a:solidFill>
                  <a:srgbClr val="111827"/>
                </a:solidFill>
                <a:latin typeface="Noto Sans JP" pitchFamily="34" charset="0"/>
                <a:ea typeface="Noto Sans JP" pitchFamily="34" charset="-122"/>
                <a:cs typeface="Noto Sans JP" pitchFamily="34" charset="-120"/>
              </a:rPr>
              <a:t> 非上場・小規模で財務情報は非公開です。4社中唯一、公式サイトに高校生向けコースの記載がなく、中学受験・高校受験に特化していると考えられます。</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運営概要比較 — 各社の特記事項（続き 2）</a:t>
            </a:r>
            <a:endParaRPr lang="en-US" sz="2000" dirty="0"/>
          </a:p>
        </p:txBody>
      </p:sp>
      <p:sp>
        <p:nvSpPr>
          <p:cNvPr id="3" name="Text 1"/>
          <p:cNvSpPr/>
          <p:nvPr/>
        </p:nvSpPr>
        <p:spPr>
          <a:xfrm>
            <a:off x="457200" y="1280160"/>
            <a:ext cx="8229600" cy="9620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4社とも校舎数・生徒数の正確な統一値は出典間の幅が大きく、確定は困難でした。また全教研・九大進学ゼミはグループ子会社であるため、直近の単独財務詳細は確認できませんでした。</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コース・指導形態比較</a:t>
            </a:r>
            <a:endParaRPr lang="en-US" sz="2400" dirty="0"/>
          </a:p>
        </p:txBody>
      </p:sp>
      <p:sp>
        <p:nvSpPr>
          <p:cNvPr id="3" name="Text 1"/>
          <p:cNvSpPr/>
          <p:nvPr/>
        </p:nvSpPr>
        <p:spPr>
          <a:xfrm>
            <a:off x="457200" y="1280160"/>
            <a:ext cx="8229600" cy="29813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対象学年層で見ると、英進館・全教研・九大進学ゼミの3社は幼児部から高等部までフルラインで展開しているのに対し、森田修学館は小学生・中学生向けのみで、高校生向けコースの記載は確認できませんでした。</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指導形態では、英進館（個別指導「パスカル」・オンライン「バーチャルキャンパス」等）、全教研（個別指導「エコール」・個人最適教材「マイスタ」・「おうちで勉強コース」）、九大進学ゼミ（個別指導併設・映像授業「ハイスクール＠will」）の3社が集団指導＋個別指導＋映像/オンラインのマルチブランド展開を行っているのに対し、森田修学館は集団指導のみで、個別指導・映像授業に関する記載は確認できませんでした。</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コース・指導形態比較 — 各社の主力コース</a:t>
            </a:r>
            <a:endParaRPr lang="en-US" sz="2000" dirty="0"/>
          </a:p>
        </p:txBody>
      </p:sp>
      <p:sp>
        <p:nvSpPr>
          <p:cNvPr id="3" name="Text 1"/>
          <p:cNvSpPr/>
          <p:nvPr/>
        </p:nvSpPr>
        <p:spPr>
          <a:xfrm>
            <a:off x="457200" y="1280160"/>
            <a:ext cx="8229600" cy="353377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幼児部／小学部（難関私立中対応＋公立進学）／中学部／高等部（東進衛星予備校提携の映像授業＋ライブ授業）／個別指導パスカル／バーチャルキャンパス（メタバース活用）</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若菜会（幼児）／小学部（Zクラス・Vクラスの中学受験コース＋公立進学）／中学部Z-UP（中高一貫向け）／高校部Z-UP（現役予備校、学年別設計）／個別指導エコール／マイスタ</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小学部（基礎の力・閃きの力・英語の力等、目的別に細分化されたコース名）／中学部（定期テスト対策に特化）／高等部（ハイスクール＠will映像授業＋担任教師の伴走サポート）／個別指導併設</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森田修学館：</a:t>
            </a:r>
            <a:pPr indent="0" marL="0">
              <a:buNone/>
            </a:pPr>
            <a:r>
              <a:rPr lang="en-US" sz="1800" dirty="0">
                <a:solidFill>
                  <a:srgbClr val="111827"/>
                </a:solidFill>
                <a:latin typeface="Noto Sans JP" pitchFamily="34" charset="0"/>
                <a:ea typeface="Noto Sans JP" pitchFamily="34" charset="-122"/>
                <a:cs typeface="Noto Sans JP" pitchFamily="34" charset="-120"/>
              </a:rPr>
              <a:t> 小学部（中学受験クラス・基礎学力クラス、90〜210分の長時間授業）／中学部（習熟度別A・Bクラス、高校受験対策特化）</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コース・指導形態比較 — 各社の主力コース（続き 1）</a:t>
            </a:r>
            <a:endParaRPr lang="en-US" sz="2000" dirty="0"/>
          </a:p>
        </p:txBody>
      </p:sp>
      <p:sp>
        <p:nvSpPr>
          <p:cNvPr id="3" name="Text 1"/>
          <p:cNvSpPr/>
          <p:nvPr/>
        </p:nvSpPr>
        <p:spPr>
          <a:xfrm>
            <a:off x="457200" y="1280160"/>
            <a:ext cx="8229600" cy="13811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学年別コースの細分化という観点では、九大進学ゼミが目的別にコース名を細かく分けているのに対し、英進館・全教研は伝統的な学年+難易度別のクラス編成、森田修学館は学年別クラスのみとシンプルな構成です。なお森田修学館の高校生向けコースの有無・過去の実績は確認できませんでした。</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料金体系比較 — 4社比較表（いずれも口コミ・比較サイト経由の目安値、税区分の明記がない場合あり）</a:t>
            </a:r>
            <a:endParaRPr lang="en-US" sz="2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42111"/>
                <a:gridCol w="630059"/>
                <a:gridCol w="2235413"/>
                <a:gridCol w="1777973"/>
                <a:gridCol w="224404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森田修学館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8953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入塾金</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11,000円程度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約11,000円（Z-UP等は20,000円との情報も）</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小学生6,600円／中高生13,200円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中学生月謝目安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22,000円程度〜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20,833円程度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18,048円程度〜（コースにより26,180円〜）</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（情報なし、口コミでは月2万円程度との言及あり）</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料金体系比較 — 4社比較表（いずれも口コミ・比較サイト経由の目安値、税区分の明記がない場合あり）（続き 1）</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42111"/>
                <a:gridCol w="630059"/>
                <a:gridCol w="2235413"/>
                <a:gridCol w="1777973"/>
                <a:gridCol w="2244044"/>
              </a:tblGrid>
              <a:tr h="638175">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項目</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森田修学館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115252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高校生月謝目安</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77,000円程度〜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Z-UP：13,500円（1講座）〜47,600円（6講座以上定額）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25,000円程度</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高校生コースなし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895350">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料金満足度（塾ナビ等、5点満点）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2.8点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3.3点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（個別評価データなし、口コミでは「安い」との声あり）</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料金体系比較 — 4社比較表（いずれも口コミ・比較サイト経由の目安値、税区分の明記がない場合あり）（続き 2）</a:t>
            </a:r>
            <a:endParaRPr lang="en-US" sz="2000" dirty="0"/>
          </a:p>
        </p:txBody>
      </p:sp>
      <p:sp>
        <p:nvSpPr>
          <p:cNvPr id="3" name="Text 1"/>
          <p:cNvSpPr/>
          <p:nvPr/>
        </p:nvSpPr>
        <p:spPr>
          <a:xfrm>
            <a:off x="457200" y="1280160"/>
            <a:ext cx="8229600" cy="22479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4社とも公式サイトでは詳細料金を一律公開しておらず、上記は口コミ・比較サイトの集計値が主な情報源であるため、正確性には限界があります。料金の満足度は英進館が4社中最も低く、口コミでは「他塾より高い」との声が複数見られました。対照的に森田修学館は「大手塾より安い」との評判が優勢でした。なお全教研には、他塾からの転塾者向けに入塾金・初月授業料を免除する制度があるとの情報がありました。季節講習費の具体的な金額は4社とも確認できず、森田修学館は月謝そのものが非公開で口コミの言及にとどまりました。</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合格実績比較</a:t>
            </a:r>
            <a:endParaRPr lang="en-US" sz="2400" dirty="0"/>
          </a:p>
        </p:txBody>
      </p:sp>
      <p:sp>
        <p:nvSpPr>
          <p:cNvPr id="3" name="Text 1"/>
          <p:cNvSpPr/>
          <p:nvPr/>
        </p:nvSpPr>
        <p:spPr>
          <a:xfrm>
            <a:off x="457200" y="1280160"/>
            <a:ext cx="8229600" cy="32099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4社中最も具体的な数値を確認できました。2026年度実績として、久留米大学附設中学145名、修猷館高校322名、東京大学18名、九州大学280名等、中学受験・高校受験・大学受験の全区分で九州トップクラスの実績を公式に打ち出してい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森田修学館：</a:t>
            </a:r>
            <a:pPr indent="0" marL="0">
              <a:buNone/>
            </a:pPr>
            <a:r>
              <a:rPr lang="en-US" sz="1800" dirty="0">
                <a:solidFill>
                  <a:srgbClr val="111827"/>
                </a:solidFill>
                <a:latin typeface="Noto Sans JP" pitchFamily="34" charset="0"/>
                <a:ea typeface="Noto Sans JP" pitchFamily="34" charset="-122"/>
                <a:cs typeface="Noto Sans JP" pitchFamily="34" charset="-120"/>
              </a:rPr>
              <a:t> 高校受験・中学受験の具体的人数を確認できました（2026年度：修猷館高38名、大濠高94名等）。大学受験実績の掲載は確認できず、高校受験までの指導に重点があると考えられます。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公式サイトの合格実績ページが画像形式のため、具体的な合格者数はテキストとして抽出できませんでした。合格体験記から久留米大学附設中学・筑紫丘高校等への合格実績は確認できましたが、年度別の人数は不明です。</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合格実績比較（続き 1）</a:t>
            </a:r>
            <a:endParaRPr lang="en-US" sz="2400" dirty="0"/>
          </a:p>
        </p:txBody>
      </p:sp>
      <p:sp>
        <p:nvSpPr>
          <p:cNvPr id="3" name="Text 1"/>
          <p:cNvSpPr/>
          <p:nvPr/>
        </p:nvSpPr>
        <p:spPr>
          <a:xfrm>
            <a:off x="457200" y="1280160"/>
            <a:ext cx="8229600" cy="13811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高校受験に重点を置いた公式ページがありますが、2026年度の大学受験実績は調査時点で「近日公開」とされ確認できませんでした。第三者サイト経由で2023年度実績（東京大学1名、九州大学11名等）のみ確認できています。</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合格実績比較（続き 2）</a:t>
            </a:r>
            <a:endParaRPr lang="en-US" sz="2400" dirty="0"/>
          </a:p>
        </p:txBody>
      </p:sp>
      <p:sp>
        <p:nvSpPr>
          <p:cNvPr id="3" name="Text 1"/>
          <p:cNvSpPr/>
          <p:nvPr/>
        </p:nvSpPr>
        <p:spPr>
          <a:xfrm>
            <a:off x="457200" y="1280160"/>
            <a:ext cx="8229600" cy="22479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実績の透明性という観点では、英進館・森田修学館は具体的人数を公式サイトで確認できた一方、全教研は画像形式で不明瞭、九大進学ゼミは大学受験の最新実績が未公開でした。力点の置き方も異なり、英進館は中学受験から大学受験まで全区分に強みを持つのに対し、森田修学館は中学受験・高校受験特化（大学受験実績なし）、九大進学ゼミ・全教研は相対的に高校受験に力点が置かれている様子がうかがえます。全教研・九大進学ゼミの最新年度の具体的な合格者数・学校別内訳は確認できませんでした。</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地域における認知・評判</a:t>
            </a:r>
            <a:endParaRPr lang="en-US" sz="2400" dirty="0"/>
          </a:p>
        </p:txBody>
      </p:sp>
      <p:sp>
        <p:nvSpPr>
          <p:cNvPr id="3" name="Text 1"/>
          <p:cNvSpPr/>
          <p:nvPr/>
        </p:nvSpPr>
        <p:spPr>
          <a:xfrm>
            <a:off x="457200" y="1280160"/>
            <a:ext cx="8229600" cy="6477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以下は口コミサイト等の情報に基づく評判であり、断定的な事実ではなく「そのような評判・評価がある」という位置づけで記載します。</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地域における認知・評判 — 塾ナビ総合評価の比較</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886492"/>
                <a:gridCol w="1322350"/>
                <a:gridCol w="1625235"/>
                <a:gridCol w="4395522"/>
              </a:tblGrid>
              <a:tr h="381000">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塾名</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総合評価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料金評価</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c>
                  <a:txBody>
                    <a:bodyPr/>
                    <a:lstStyle/>
                    <a:p>
                      <a:pPr algn="ctr" indent="0" marL="0">
                        <a:buNone/>
                      </a:pPr>
                      <a:r>
                        <a:rPr lang="en-US" sz="1400" b="1" dirty="0">
                          <a:solidFill>
                            <a:srgbClr val="FFFFFF"/>
                          </a:solidFill>
                          <a:latin typeface="Noto Sans JP" pitchFamily="34" charset="0"/>
                          <a:ea typeface="Noto Sans JP" pitchFamily="34" charset="-122"/>
                          <a:cs typeface="Noto Sans JP" pitchFamily="34" charset="-120"/>
                        </a:rPr>
                        <a:t>特記</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74151"/>
                    </a:solidFill>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英進館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3.48点（2,216件）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2.8点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講師・教材は高評価、料金は課題との声</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全教研</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3.51点（579件）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3.0点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カリキュラムへの好意的評価が多い（回答者の57.6%が「良い」）</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九大進学ゼミ</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3.53点（638件）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3.3点</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講師の指導力を評価する声、駐車場の狭さの指摘</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r h="638175">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森田修学館</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3.60点（41件）</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（個別評価データなし）</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indent="0" marL="0">
                        <a:buNone/>
                      </a:pPr>
                      <a:r>
                        <a:rPr lang="en-US" sz="1400" dirty="0">
                          <a:solidFill>
                            <a:srgbClr val="111827"/>
                          </a:solidFill>
                          <a:latin typeface="Noto Sans JP" pitchFamily="34" charset="0"/>
                          <a:ea typeface="Noto Sans JP" pitchFamily="34" charset="-122"/>
                          <a:cs typeface="Noto Sans JP" pitchFamily="34" charset="-120"/>
                        </a:rPr>
                        <a:t>アットホームさ・面倒見の良さが評判の中心</a:t>
                      </a:r>
                      <a:endParaRPr lang="en-US" sz="1400" dirty="0">
                        <a:latin typeface="Noto Sans JP" charset="0"/>
                        <a:ea typeface="Noto Sans JP" charset="0"/>
                        <a:cs typeface="Noto Sans JP" charset="0"/>
                      </a:endParaRPr>
                    </a:p>
                  </a:txBody>
                  <a:tcPr marL="91440" marR="91440" marT="45720" marB="4572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000" b="1" dirty="0">
                <a:solidFill>
                  <a:srgbClr val="DC2626"/>
                </a:solidFill>
                <a:latin typeface="Noto Sans JP" pitchFamily="34" charset="0"/>
                <a:ea typeface="Noto Sans JP" pitchFamily="34" charset="-122"/>
                <a:cs typeface="Noto Sans JP" pitchFamily="34" charset="-120"/>
              </a:rPr>
              <a:t>地域における認知・評判 — 塾ナビ総合評価の比較（続き 1）</a:t>
            </a:r>
            <a:endParaRPr lang="en-US" sz="2000" dirty="0"/>
          </a:p>
        </p:txBody>
      </p:sp>
      <p:sp>
        <p:nvSpPr>
          <p:cNvPr id="3" name="Text 1"/>
          <p:cNvSpPr/>
          <p:nvPr/>
        </p:nvSpPr>
        <p:spPr>
          <a:xfrm>
            <a:off x="457200" y="1280160"/>
            <a:ext cx="8229600" cy="2247900"/>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森田修学館は口コミ件数が他3社（500件超）より大幅に少ない（41件）ため、評価点の単純比較には注意が必要です。4社共通で「講師・カリキュラムは好意的、料金には厳しい声がある」という傾向が見られますが、森田修学館のみ「安い」との評判が優勢で対照的でした。また森田修学館には「アットホームさ」「卒業後も関係が続く」という、大手3社にはあまり見られない評判軸がありました。4社の評価はいずれも口コミサイト由来であり、断定的な事実ではなく評判・印象として扱う必要があります。</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差別化要因・ポジショニング</a:t>
            </a:r>
            <a:endParaRPr lang="en-US" sz="2400" dirty="0"/>
          </a:p>
        </p:txBody>
      </p:sp>
      <p:sp>
        <p:nvSpPr>
          <p:cNvPr id="3" name="Text 1"/>
          <p:cNvSpPr/>
          <p:nvPr/>
        </p:nvSpPr>
        <p:spPr>
          <a:xfrm>
            <a:off x="457200" y="1280160"/>
            <a:ext cx="8229600" cy="32099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九州最大級の規模と、久留米大学附設・ラ・サール・修猷館など最難関校への圧倒的な合格実績（「○年連続No.1」を多数保持）。M&amp;Aによる事業エリア・専門領域（医学部専門予備校等）の拡大や、atama+・Monoxer・schoolTakt等、複数ベンダーとの提携による多層的なDX推進が特徴で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北部九州における老舗としての歴史（1962年起源）と、本体・エコール・Z-UP・マイスタといったブランドの細分化による顧客層の網羅が特徴です。学研グループ入りによる経営基盤の安定も強みといえます。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福岡発祥でありながら「さなる」広域グループの一員として、AI学トレやハイスクール＠willなど、グループ規模を活かしたICT投資ができる点が特徴です。中学部における「定期テスト対策」への特化姿勢も見られます。</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差別化要因・ポジショニング（続き 1）</a:t>
            </a:r>
            <a:endParaRPr lang="en-US" sz="2400" dirty="0"/>
          </a:p>
        </p:txBody>
      </p:sp>
      <p:sp>
        <p:nvSpPr>
          <p:cNvPr id="3" name="Text 1"/>
          <p:cNvSpPr/>
          <p:nvPr/>
        </p:nvSpPr>
        <p:spPr>
          <a:xfrm>
            <a:off x="457200" y="1280160"/>
            <a:ext cx="8229600" cy="29813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森田修学館：</a:t>
            </a:r>
            <a:pPr indent="0" marL="0">
              <a:buNone/>
            </a:pPr>
            <a:r>
              <a:rPr lang="en-US" sz="1800" dirty="0">
                <a:solidFill>
                  <a:srgbClr val="111827"/>
                </a:solidFill>
                <a:latin typeface="Noto Sans JP" pitchFamily="34" charset="0"/>
                <a:ea typeface="Noto Sans JP" pitchFamily="34" charset="-122"/>
                <a:cs typeface="Noto Sans JP" pitchFamily="34" charset="-120"/>
              </a:rPr>
              <a:t> 4校舎という小規模さを逆手に取った「目が行き届く」アットホームな指導や、卒塾後も続く人的つながり（同窓会文化）が特徴です。料金の分かりやすさ・相対的な安さも強みとして挙げられます。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4社中3社（英進館・全教研・九大進学ゼミ）が何らかの形で広域資本・グループ化の動きを経験している一方、森田修学館のみが独立系小規模を維持しているという対比は、福岡の学習塾市場の構造を理解するうえで注目に値します。切り口で整理すると、英進館は「規模・実績」、全教研は「歴史・ブランドの多角性」、九大進学ゼミは「グループ資本力によるDX投資」、森田修学館は「小規模ならではの面倒見の良さ」で勝負していると言えます。</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再就職検討への示唆</a:t>
            </a:r>
            <a:endParaRPr lang="en-US" sz="2400" dirty="0"/>
          </a:p>
        </p:txBody>
      </p:sp>
      <p:sp>
        <p:nvSpPr>
          <p:cNvPr id="3" name="Text 1"/>
          <p:cNvSpPr/>
          <p:nvPr/>
        </p:nvSpPr>
        <p:spPr>
          <a:xfrm>
            <a:off x="457200" y="1280160"/>
            <a:ext cx="8229600" cy="29813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本セクションは特定企業への応募を推奨・非推奨する断定的な結論ではなく、比較検討のための材料として記載します。また、4社とも人事・採用・働き方に関する一次情報（求人サイト以外）は本調査の対象外としたため、あくまで運営概要・DX施策等から推測できる範囲の材料にとどまり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業界横断的な留意点：</a:t>
            </a:r>
            <a:pPr indent="0" marL="0">
              <a:buNone/>
            </a:pPr>
            <a:r>
              <a:rPr lang="en-US" sz="1800" dirty="0">
                <a:solidFill>
                  <a:srgbClr val="111827"/>
                </a:solidFill>
                <a:latin typeface="Noto Sans JP" pitchFamily="34" charset="0"/>
                <a:ea typeface="Noto Sans JP" pitchFamily="34" charset="-122"/>
                <a:cs typeface="Noto Sans JP" pitchFamily="34" charset="-120"/>
              </a:rPr>
              <a:t> 福岡県内の総合学習塾市場は、独立系の大手（英進館）、広域資本傘下の地場ブランド（全教研・九大進学ゼミ）、独立系小規模（森田修学館）が併存する構造です。「地場塾」を謳っていても資本関係は必ずしも地場資本ではない点は、企業研究・面接対策の両面で押さえておく価値があります。</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再就職検討への示唆（続き 1）</a:t>
            </a:r>
            <a:endParaRPr lang="en-US" sz="2400" dirty="0"/>
          </a:p>
        </p:txBody>
      </p:sp>
      <p:sp>
        <p:nvSpPr>
          <p:cNvPr id="3" name="Text 1"/>
          <p:cNvSpPr/>
          <p:nvPr/>
        </p:nvSpPr>
        <p:spPr>
          <a:xfrm>
            <a:off x="457200" y="1280160"/>
            <a:ext cx="8229600" cy="32099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英進館：</a:t>
            </a:r>
            <a:pPr indent="0" marL="0">
              <a:buNone/>
            </a:pPr>
            <a:r>
              <a:rPr lang="en-US" sz="1800" dirty="0">
                <a:solidFill>
                  <a:srgbClr val="111827"/>
                </a:solidFill>
                <a:latin typeface="Noto Sans JP" pitchFamily="34" charset="0"/>
                <a:ea typeface="Noto Sans JP" pitchFamily="34" charset="-122"/>
                <a:cs typeface="Noto Sans JP" pitchFamily="34" charset="-120"/>
              </a:rPr>
              <a:t> 独立系で意思決定が速い可能性がある一方、M&amp;Aによる事業拡大が積極的で組織変化が大きい可能性があります。DX投資は複数ベンダー併用型で、特定技術への一貫した投資方針というより「幅広く取り入れる」姿勢がうかがえ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全教研：</a:t>
            </a:r>
            <a:pPr indent="0" marL="0">
              <a:buNone/>
            </a:pPr>
            <a:r>
              <a:rPr lang="en-US" sz="1800" dirty="0">
                <a:solidFill>
                  <a:srgbClr val="111827"/>
                </a:solidFill>
                <a:latin typeface="Noto Sans JP" pitchFamily="34" charset="0"/>
                <a:ea typeface="Noto Sans JP" pitchFamily="34" charset="-122"/>
                <a:cs typeface="Noto Sans JP" pitchFamily="34" charset="-120"/>
              </a:rPr>
              <a:t> 学研グループの一員という経営基盤の安定性がある一方、単独決算の非開示など情報開示の面ではグループ子会社特有の制約がある可能性があります。</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九大進学ゼミ：</a:t>
            </a:r>
            <a:pPr indent="0" marL="0">
              <a:buNone/>
            </a:pPr>
            <a:r>
              <a:rPr lang="en-US" sz="1800" dirty="0">
                <a:solidFill>
                  <a:srgbClr val="111827"/>
                </a:solidFill>
                <a:latin typeface="Noto Sans JP" pitchFamily="34" charset="0"/>
                <a:ea typeface="Noto Sans JP" pitchFamily="34" charset="-122"/>
                <a:cs typeface="Noto Sans JP" pitchFamily="34" charset="-120"/>
              </a:rPr>
              <a:t> さなるグループの一員としてAI学トレ等のICT投資をグループ規模で行える点は、生成AI・業務自動化に関心がある人材にとって魅力になり得る一方、九大進学ゼミ単体としての独自性・裁量の範囲は要確認事項です。</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274320"/>
            <a:ext cx="8229600" cy="822960"/>
          </a:xfrm>
          <a:prstGeom prst="rect">
            <a:avLst/>
          </a:prstGeom>
          <a:noFill/>
          <a:ln/>
        </p:spPr>
        <p:txBody>
          <a:bodyPr wrap="square" lIns="0" tIns="0" rIns="0" bIns="0" rtlCol="0" anchor="ctr"/>
          <a:lstStyle/>
          <a:p>
            <a:pPr indent="0" marL="0">
              <a:buNone/>
            </a:pPr>
            <a:r>
              <a:rPr lang="en-US" sz="2400" b="1" dirty="0">
                <a:solidFill>
                  <a:srgbClr val="DC2626"/>
                </a:solidFill>
                <a:latin typeface="Noto Sans JP" pitchFamily="34" charset="0"/>
                <a:ea typeface="Noto Sans JP" pitchFamily="34" charset="-122"/>
                <a:cs typeface="Noto Sans JP" pitchFamily="34" charset="-120"/>
              </a:rPr>
              <a:t>再就職検討への示唆（続き 2）</a:t>
            </a:r>
            <a:endParaRPr lang="en-US" sz="2400" dirty="0"/>
          </a:p>
        </p:txBody>
      </p:sp>
      <p:sp>
        <p:nvSpPr>
          <p:cNvPr id="3" name="Text 1"/>
          <p:cNvSpPr/>
          <p:nvPr/>
        </p:nvSpPr>
        <p:spPr>
          <a:xfrm>
            <a:off x="457200" y="1280160"/>
            <a:ext cx="8229600" cy="962025"/>
          </a:xfrm>
          <a:prstGeom prst="rect">
            <a:avLst/>
          </a:prstGeom>
          <a:noFill/>
          <a:ln/>
        </p:spPr>
        <p:txBody>
          <a:bodyPr wrap="square" lIns="0" tIns="0" rIns="0" bIns="0" rtlCol="0" anchor="t"/>
          <a:lstStyle/>
          <a:p>
            <a:pPr indent="0" marL="0">
              <a:buNone/>
            </a:pPr>
            <a:r>
              <a:rPr lang="en-US" sz="1800" dirty="0">
                <a:solidFill>
                  <a:srgbClr val="111827"/>
                </a:solidFill>
                <a:latin typeface="Noto Sans JP" pitchFamily="34" charset="0"/>
                <a:ea typeface="Noto Sans JP" pitchFamily="34" charset="-122"/>
                <a:cs typeface="Noto Sans JP" pitchFamily="34" charset="-120"/>
              </a:rPr>
              <a:t>• </a:t>
            </a:r>
            <a:pPr indent="0" marL="0">
              <a:buNone/>
            </a:pPr>
            <a:r>
              <a:rPr lang="en-US" sz="1800" b="1" dirty="0">
                <a:solidFill>
                  <a:srgbClr val="111827"/>
                </a:solidFill>
                <a:latin typeface="Noto Sans JP" pitchFamily="34" charset="0"/>
                <a:ea typeface="Noto Sans JP" pitchFamily="34" charset="-122"/>
                <a:cs typeface="Noto Sans JP" pitchFamily="34" charset="-120"/>
              </a:rPr>
              <a:t>森田修学館：</a:t>
            </a:r>
            <a:pPr indent="0" marL="0">
              <a:buNone/>
            </a:pPr>
            <a:r>
              <a:rPr lang="en-US" sz="1800" dirty="0">
                <a:solidFill>
                  <a:srgbClr val="111827"/>
                </a:solidFill>
                <a:latin typeface="Noto Sans JP" pitchFamily="34" charset="0"/>
                <a:ea typeface="Noto Sans JP" pitchFamily="34" charset="-122"/>
                <a:cs typeface="Noto Sans JP" pitchFamily="34" charset="-120"/>
              </a:rPr>
              <a:t> 小規模組織ならではの現場裁量の大きさが期待できる一方、財務・待遇面の情報開示が薄く、企業研究段階での不明点が他3社より多い状況です。</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2026-07-06T13:09:20Z</dcterms:created>
  <dcterms:modified xsi:type="dcterms:W3CDTF">2026-07-06T13:09:20Z</dcterms:modified>
</cp:coreProperties>
</file>