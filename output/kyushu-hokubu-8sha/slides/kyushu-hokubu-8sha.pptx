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0"/>
            <a:ext cx="8229600" cy="5143500"/>
          </a:xfrm>
          <a:prstGeom prst="rect">
            <a:avLst/>
          </a:prstGeom>
          <a:noFill/>
          <a:ln/>
        </p:spPr>
        <p:txBody>
          <a:bodyPr wrap="square" lIns="0" tIns="0" rIns="0" bIns="0" rtlCol="0" anchor="ctr"/>
          <a:lstStyle/>
          <a:p>
            <a:pPr algn="ctr" indent="0" marL="0">
              <a:buNone/>
            </a:pPr>
            <a:r>
              <a:rPr lang="en-US" sz="4000" b="1" dirty="0">
                <a:solidFill>
                  <a:srgbClr val="DC2626"/>
                </a:solidFill>
                <a:latin typeface="Noto Sans JP" pitchFamily="34" charset="0"/>
                <a:ea typeface="Noto Sans JP" pitchFamily="34" charset="-122"/>
                <a:cs typeface="Noto Sans JP" pitchFamily="34" charset="-120"/>
              </a:rPr>
              <a:t>福岡・佐賀・長崎・熊本 学習塾競合調査レポート（英進館・全教研・九大進学ゼミ・創研学院・能開センター・智翔館・早稲田スクール・熊本ゼミナール）</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a:t>
            </a:r>
            <a:endParaRPr lang="en-US" sz="2400" dirty="0"/>
          </a:p>
        </p:txBody>
      </p:sp>
      <p:sp>
        <p:nvSpPr>
          <p:cNvPr id="3" name="Text 1"/>
          <p:cNvSpPr/>
          <p:nvPr/>
        </p:nvSpPr>
        <p:spPr>
          <a:xfrm>
            <a:off x="457200" y="1280160"/>
            <a:ext cx="8229600" cy="23431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本レポートは、福岡・佐賀・長崎・熊本の4県にまたがる総合学習塾8社を対象に、運営概要・コース・料金・合格実績・DX施策・地域評判を比較調査したものです。8社は展開範囲が大きく異なります。英進館・九大進学ゼミは4県中3〜4県に広く展開する一方、創研学院は3県に各1校のみ、能開センターは3県展開（佐賀のみなし）、智翔館は長崎、熊本ゼミナール・早稲田スクールは熊本のみという単県特化型です。全教研は福岡・佐賀・長崎が拠点で、熊本での展開は薄いか未確認でした。</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1）</a:t>
            </a:r>
            <a:endParaRPr lang="en-US" sz="2400" dirty="0"/>
          </a:p>
        </p:txBody>
      </p:sp>
      <p:sp>
        <p:nvSpPr>
          <p:cNvPr id="3" name="Text 1"/>
          <p:cNvSpPr/>
          <p:nvPr/>
        </p:nvSpPr>
        <p:spPr>
          <a:xfrm>
            <a:off x="457200" y="1280160"/>
            <a:ext cx="8229600" cy="29813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調査の過程で、業界構造に関わる2つの発見がありました。第一に、学研グループ（学研ホールディングス）が全教研（2013年完全子会社化）と早稲田スクール（2009年資本業務提携）の2社に関与しており、九大進学ゼミも「さなる」グループ傘下であることから、8社中3社が広域教育資本の影響下にあります。第二に、「創研学院」「能開センター」はいずれも同一ブランド名を複数の異なる会社が使用している実態が判明しました。本レポートでは、対象4県を実際に運営する法人を特定したうえで記載しています。また、英進館・智翔館・早稲田スクールはいずれも東進の映像授業システムを校舎に導入しており、直接の競合であるはずの各社が同じ映像授業基盤を共有しているという構造も見られました。</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2）</a:t>
            </a:r>
            <a:endParaRPr lang="en-US" sz="2400" dirty="0"/>
          </a:p>
        </p:txBody>
      </p:sp>
      <p:sp>
        <p:nvSpPr>
          <p:cNvPr id="3" name="Text 1"/>
          <p:cNvSpPr/>
          <p:nvPr/>
        </p:nvSpPr>
        <p:spPr>
          <a:xfrm>
            <a:off x="457200" y="1280160"/>
            <a:ext cx="8229600" cy="16002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あらかじめお断りしておくと、本レポートに登場する校舎数・生徒数・売上高等の数値は出典によって幅があるものが多く、合格実績も公式サイトが画像形式で数値を抽出できない会社が複数あります（全教研・能開センター・早稲田スクールの大学受験実績等）。断定的な単一の数値としてではなく、目安・参考値としてご覧ください。</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4県展開状況</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30923"/>
                <a:gridCol w="720969"/>
                <a:gridCol w="720969"/>
                <a:gridCol w="817685"/>
                <a:gridCol w="1186962"/>
                <a:gridCol w="355209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福岡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佐賀</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長崎</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熊本</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運営母体・資本構造</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独立系（九州最大級）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学研グループ傘下（2013年〜）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さなるグループ傘下（2007年〜）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創研学院</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独立系（大阪本社）</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能開センター</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○（8校）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独立系（神戸本社）</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4県展開状況（続き 1）</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30923"/>
                <a:gridCol w="720969"/>
                <a:gridCol w="720969"/>
                <a:gridCol w="817685"/>
                <a:gridCol w="1186962"/>
                <a:gridCol w="355209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福岡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佐賀</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長崎</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熊本</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運営母体・資本構造</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智翔館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○（11校）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独立系（長崎地場）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早稲田スクール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○（約40教室）</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学研と資本業務提携（2009年〜、熊本地場）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熊本ゼミナール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○（29〜34校）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独立系（熊本地場）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4" name="Text 1"/>
          <p:cNvSpPr/>
          <p:nvPr/>
        </p:nvSpPr>
        <p:spPr>
          <a:xfrm>
            <a:off x="457200" y="3766185"/>
            <a:ext cx="8229600" cy="3238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△＝展開が薄い、または本調査で確認できず。×＝展開なし。</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a:t>
            </a:r>
            <a:endParaRPr lang="en-US" sz="2000" dirty="0"/>
          </a:p>
        </p:txBody>
      </p:sp>
      <p:sp>
        <p:nvSpPr>
          <p:cNvPr id="3" name="Text 1"/>
          <p:cNvSpPr/>
          <p:nvPr/>
        </p:nvSpPr>
        <p:spPr>
          <a:xfrm>
            <a:off x="457200" y="1280160"/>
            <a:ext cx="8229600" cy="35337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広島「鯉城学院」「田中学習会」、大阪「メビオ」、東京「YMS」等をM&amp;Aで傘下に持ち、九州最大級の規模を誇ります。持株会社「英進館ホールディングス」の存在も確認されています。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1994年に福岡証券取引所へ上場しましたが2009年にMBOで非上場化し、2013年に学研グループ入りしました。</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「さなる」グループ傘下です。なお、本調査依頼時点の前提情報（親会社の上場状況、他ブランドとの関係）に誤りがあったことが判明したため、正直に訂正して記載しています。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創研学院：</a:t>
            </a:r>
            <a:pPr indent="0" marL="0">
              <a:buNone/>
            </a:pPr>
            <a:r>
              <a:rPr lang="en-US" sz="1800" dirty="0">
                <a:solidFill>
                  <a:srgbClr val="111827"/>
                </a:solidFill>
                <a:latin typeface="Noto Sans JP" pitchFamily="34" charset="0"/>
                <a:ea typeface="Noto Sans JP" pitchFamily="34" charset="-122"/>
                <a:cs typeface="Noto Sans JP" pitchFamily="34" charset="-120"/>
              </a:rPr>
              <a:t> ブランド名は同一ですが、九州3校舎（福岡・佐賀・長崎）はすべて単一の運営会社（株式会社ヒューマン・ブレーン、大阪）による直営です。熊本県には現時点で展開していません。</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各社の特記事項（続き 1）</a:t>
            </a:r>
            <a:endParaRPr lang="en-US" sz="2000" dirty="0"/>
          </a:p>
        </p:txBody>
      </p:sp>
      <p:sp>
        <p:nvSpPr>
          <p:cNvPr id="3" name="Text 1"/>
          <p:cNvSpPr/>
          <p:nvPr/>
        </p:nvSpPr>
        <p:spPr>
          <a:xfrm>
            <a:off x="457200" y="1280160"/>
            <a:ext cx="8229600" cy="32099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能開センター：</a:t>
            </a:r>
            <a:pPr indent="0" marL="0">
              <a:buNone/>
            </a:pPr>
            <a:r>
              <a:rPr lang="en-US" sz="1800" dirty="0">
                <a:solidFill>
                  <a:srgbClr val="111827"/>
                </a:solidFill>
                <a:latin typeface="Noto Sans JP" pitchFamily="34" charset="0"/>
                <a:ea typeface="Noto Sans JP" pitchFamily="34" charset="-122"/>
                <a:cs typeface="Noto Sans JP" pitchFamily="34" charset="-120"/>
              </a:rPr>
              <a:t> 「能開センター」というブランド名は、株式会社ワオ・コーポレーション（大阪、対象地域には非展開）と株式会社ティエラコム（神戸、対象地域を運営）という2つの無関係な会社が使用しています。本レポートはティエラコムが運営する分（福岡・熊本・長崎）を対象としており、佐賀県には教室がありません。</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智翔館：</a:t>
            </a:r>
            <a:pPr indent="0" marL="0">
              <a:buNone/>
            </a:pPr>
            <a:r>
              <a:rPr lang="en-US" sz="1800" dirty="0">
                <a:solidFill>
                  <a:srgbClr val="111827"/>
                </a:solidFill>
                <a:latin typeface="Noto Sans JP" pitchFamily="34" charset="0"/>
                <a:ea typeface="Noto Sans JP" pitchFamily="34" charset="-122"/>
                <a:cs typeface="Noto Sans JP" pitchFamily="34" charset="-120"/>
              </a:rPr>
              <a:t> 長崎県佐世保市周辺を中心に展開する地場塾です。学習塾以外に資格スクール「LEC」の運営等、教育関連の周辺事業も手掛けています。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早稲田スクール：</a:t>
            </a:r>
            <a:pPr indent="0" marL="0">
              <a:buNone/>
            </a:pPr>
            <a:r>
              <a:rPr lang="en-US" sz="1800" dirty="0">
                <a:solidFill>
                  <a:srgbClr val="111827"/>
                </a:solidFill>
                <a:latin typeface="Noto Sans JP" pitchFamily="34" charset="0"/>
                <a:ea typeface="Noto Sans JP" pitchFamily="34" charset="-122"/>
                <a:cs typeface="Noto Sans JP" pitchFamily="34" charset="-120"/>
              </a:rPr>
              <a:t> 名称から早稲田大学や東京の「早稲田アカデミー」と混同されやすいですが、資本関係のない熊本地場の独立企業です。学研とは2009年に資本業務提携をしています。</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各社の特記事項（続き 2）</a:t>
            </a:r>
            <a:endParaRPr lang="en-US" sz="2000" dirty="0"/>
          </a:p>
        </p:txBody>
      </p:sp>
      <p:sp>
        <p:nvSpPr>
          <p:cNvPr id="3" name="Text 1"/>
          <p:cNvSpPr/>
          <p:nvPr/>
        </p:nvSpPr>
        <p:spPr>
          <a:xfrm>
            <a:off x="457200" y="1280160"/>
            <a:ext cx="8229600" cy="17049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熊本ゼミナール：</a:t>
            </a:r>
            <a:pPr indent="0" marL="0">
              <a:buNone/>
            </a:pPr>
            <a:r>
              <a:rPr lang="en-US" sz="1800" dirty="0">
                <a:solidFill>
                  <a:srgbClr val="111827"/>
                </a:solidFill>
                <a:latin typeface="Noto Sans JP" pitchFamily="34" charset="0"/>
                <a:ea typeface="Noto Sans JP" pitchFamily="34" charset="-122"/>
                <a:cs typeface="Noto Sans JP" pitchFamily="34" charset="-120"/>
              </a:rPr>
              <a:t> 熊本県内で完結する地場塾で、グループで通信制高校・障がい児支援施設等の周辺事業も展開しています。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8社とも校舎数・生徒数の正確な統一値は出典間の幅が大きく、確定が困難でした。特に能開センター・創研学院は「グループ全体（他ブランド・他地域込み）」の数値と「対象4県のみ」の数値が混在している点にご注意ください。</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コース・指導形態比較</a:t>
            </a:r>
            <a:endParaRPr lang="en-US" sz="2400" dirty="0"/>
          </a:p>
        </p:txBody>
      </p:sp>
      <p:sp>
        <p:nvSpPr>
          <p:cNvPr id="3" name="Text 1"/>
          <p:cNvSpPr/>
          <p:nvPr/>
        </p:nvSpPr>
        <p:spPr>
          <a:xfrm>
            <a:off x="457200" y="1280160"/>
            <a:ext cx="8229600" cy="25622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8社中7社が集団指導・個別指導・映像/オンライン授業を組み合わせたマルチブランド展開を行っています。映像授業の提携先で見ると、英進館・智翔館・早稲田スクール（高校部）・能開センター（一部拠点）は東進系の映像授業を導入している一方、熊本ゼミナールは河合塾マナビスと提携しています。全教研・九大進学ゼミ・創研学院は自社開発のAI教材（それぞれkulumo、AI学トレ、kulumo）を軸にしています。AI教材の導入状況では、atama+が英進館・能開センター・早稲田スクールで、すららが英進館・創研学院（kulumo経由）で確認できました。</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コース・指導形態比較 — 各社の主力コース</a:t>
            </a:r>
            <a:endParaRPr lang="en-US" sz="2000" dirty="0"/>
          </a:p>
        </p:txBody>
      </p:sp>
      <p:sp>
        <p:nvSpPr>
          <p:cNvPr id="3" name="Text 1"/>
          <p:cNvSpPr/>
          <p:nvPr/>
        </p:nvSpPr>
        <p:spPr>
          <a:xfrm>
            <a:off x="457200" y="1280160"/>
            <a:ext cx="8229600" cy="35528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幼児部〜高等部、個別指導パスカル、バーチャルキャンパス（メタバース活用）</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若菜会（幼児）〜高校部Z-UP、個別指導エコール、個人最適教材マイスタ</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基礎の力・閃きの力等の目的別コース、高等部ハイスクール＠will</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創研学院：</a:t>
            </a:r>
            <a:pPr indent="0" marL="0">
              <a:buNone/>
            </a:pPr>
            <a:r>
              <a:rPr lang="en-US" sz="1800" dirty="0">
                <a:solidFill>
                  <a:srgbClr val="111827"/>
                </a:solidFill>
                <a:latin typeface="Noto Sans JP" pitchFamily="34" charset="0"/>
                <a:ea typeface="Noto Sans JP" pitchFamily="34" charset="-122"/>
                <a:cs typeface="Noto Sans JP" pitchFamily="34" charset="-120"/>
              </a:rPr>
              <a:t> 集団・個別を併設した学年別コース。九州3校とも同一体系で、高校受験・大学受験（地元大学中心）に軸足があるとみられます。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能開センター：</a:t>
            </a:r>
            <a:pPr indent="0" marL="0">
              <a:buNone/>
            </a:pPr>
            <a:r>
              <a:rPr lang="en-US" sz="1800" dirty="0">
                <a:solidFill>
                  <a:srgbClr val="111827"/>
                </a:solidFill>
                <a:latin typeface="Noto Sans JP" pitchFamily="34" charset="0"/>
                <a:ea typeface="Noto Sans JP" pitchFamily="34" charset="-122"/>
                <a:cs typeface="Noto Sans JP" pitchFamily="34" charset="-120"/>
              </a:rPr>
              <a:t> 能開ゼミ（小学部）、能開ゼミ with AI（中学部）、AI高校部。福岡・熊本は集団指導中心、長崎の一部校舎のみ個別指導も提供という地域差が特徴的です。</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コース・指導形態比較 — 各社の主力コース（続き 1）</a:t>
            </a:r>
            <a:endParaRPr lang="en-US" sz="2000" dirty="0"/>
          </a:p>
        </p:txBody>
      </p:sp>
      <p:sp>
        <p:nvSpPr>
          <p:cNvPr id="3" name="Text 1"/>
          <p:cNvSpPr/>
          <p:nvPr/>
        </p:nvSpPr>
        <p:spPr>
          <a:xfrm>
            <a:off x="457200" y="1280160"/>
            <a:ext cx="8229600" cy="26670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智翔館：</a:t>
            </a:r>
            <a:pPr indent="0" marL="0">
              <a:buNone/>
            </a:pPr>
            <a:r>
              <a:rPr lang="en-US" sz="1800" dirty="0">
                <a:solidFill>
                  <a:srgbClr val="111827"/>
                </a:solidFill>
                <a:latin typeface="Noto Sans JP" pitchFamily="34" charset="0"/>
                <a:ea typeface="Noto Sans JP" pitchFamily="34" charset="-122"/>
                <a:cs typeface="Noto Sans JP" pitchFamily="34" charset="-120"/>
              </a:rPr>
              <a:t> ジュニアコース〜大学受験コース（東進映像）、自立学習型教室「RED」、通信制高校サポート校「夢未来高等学院」</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早稲田スクール：</a:t>
            </a:r>
            <a:pPr indent="0" marL="0">
              <a:buNone/>
            </a:pPr>
            <a:r>
              <a:rPr lang="en-US" sz="1800" dirty="0">
                <a:solidFill>
                  <a:srgbClr val="111827"/>
                </a:solidFill>
                <a:latin typeface="Noto Sans JP" pitchFamily="34" charset="0"/>
                <a:ea typeface="Noto Sans JP" pitchFamily="34" charset="-122"/>
                <a:cs typeface="Noto Sans JP" pitchFamily="34" charset="-120"/>
              </a:rPr>
              <a:t> 学力別クラス編成が細かく、中学部は6クラス編成です。バーチャル校（オンライン＋AI教材GDLS）で校舎の無い地域もカバーしています。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熊本ゼミナール：</a:t>
            </a:r>
            <a:pPr indent="0" marL="0">
              <a:buNone/>
            </a:pPr>
            <a:r>
              <a:rPr lang="en-US" sz="1800" dirty="0">
                <a:solidFill>
                  <a:srgbClr val="111827"/>
                </a:solidFill>
                <a:latin typeface="Noto Sans JP" pitchFamily="34" charset="0"/>
                <a:ea typeface="Noto Sans JP" pitchFamily="34" charset="-122"/>
                <a:cs typeface="Noto Sans JP" pitchFamily="34" charset="-120"/>
              </a:rPr>
              <a:t> BE studio（ベネッセ英語）・玉井式・KIWAMI等、外部提携教材を多数組み合わせる方式です。県立中専門コース等、公立中高一貫校対応も充実しています。</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コース・指導形態比較 — 各社の主力コース（続き 2）</a:t>
            </a:r>
            <a:endParaRPr lang="en-US" sz="2000" dirty="0"/>
          </a:p>
        </p:txBody>
      </p:sp>
      <p:sp>
        <p:nvSpPr>
          <p:cNvPr id="3" name="Text 1"/>
          <p:cNvSpPr/>
          <p:nvPr/>
        </p:nvSpPr>
        <p:spPr>
          <a:xfrm>
            <a:off x="457200" y="1280160"/>
            <a:ext cx="8229600" cy="9620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なお、能開センター・創研学院については、対象地域の校舎単体でのコース内容の詳細（グループ全体の体系と地域校舎の実態が完全に一致するか）までは確認できませんでした。</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8社比較表（いずれも口コミ・比較サイト経由の目安値）</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98693"/>
                <a:gridCol w="1202749"/>
                <a:gridCol w="1986283"/>
                <a:gridCol w="2140994"/>
                <a:gridCol w="220088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入塾金目安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中学生月謝目安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高校生月謝目安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11,000円程度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22,000円程度〜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77,000円程度〜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料金満足度2.8点（8社中最低水準）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約11,000円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20,833円程度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Z-UP：13,500〜47,600円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料金満足度3.0点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小6,600円／中高13,200円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18,048円程度〜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25,000円程度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料金満足度3.3点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創研学院</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16,500〜22,000円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集団33,000円程度／個別21,600〜32,400円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個別21,600〜32,400円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鳥栖・佐世保で口コミ集計に差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8社比較表（いずれも口コミ・比較サイト経由の目安値）（続き 1）</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98693"/>
                <a:gridCol w="1202749"/>
                <a:gridCol w="1986283"/>
                <a:gridCol w="2140994"/>
                <a:gridCol w="220088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入塾金目安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中学生月謝目安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高校生月謝目安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能開センター</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27,296円程度（大牟田）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28,222円程度（大牟田）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公式非公開、比較サイト集計のみ</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智翔館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小学生のみ月謝レンジ判明（5,500〜29,700円）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早稲田スクール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33,000円（高校部）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22,000〜38,500円程度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82,500円/講座＋担当指導費33,000〜44,000円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季節講習費が合計25万円程度との報告あり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8社比較表（いずれも口コミ・比較サイト経由の目安値）（続き 2）</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98693"/>
                <a:gridCol w="1202749"/>
                <a:gridCol w="1986283"/>
                <a:gridCol w="2140994"/>
                <a:gridCol w="220088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入塾金目安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中学生月謝目安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高校生月謝目安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熊本ゼミナール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15,000〜25,000円程度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料金満足度2.9点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8社比較表（いずれも口コミ・比較サイト経由の目安値）（続き 3）</a:t>
            </a:r>
            <a:endParaRPr lang="en-US" sz="2000" dirty="0"/>
          </a:p>
        </p:txBody>
      </p:sp>
      <p:sp>
        <p:nvSpPr>
          <p:cNvPr id="3" name="Text 1"/>
          <p:cNvSpPr/>
          <p:nvPr/>
        </p:nvSpPr>
        <p:spPr>
          <a:xfrm>
            <a:off x="457200" y="1280160"/>
            <a:ext cx="8229600" cy="19240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8社とも公式サイトでは詳細料金を一律公開しておらず、上記は比較サイトの集計値が主な情報源であるため正確性には限界があります。料金満足度が判明している4社の中では英進館が最も低く、「高い」という評判が最も強く見られました。智翔館・熊本ゼミナール・能開センターは中学生・高校生の月謝が非公開で、小学生の一部のみ判明という情報の非対称性がありました。季節講習費の具体的な金額は8社とも確認できませんでした。</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合格実績比較</a:t>
            </a:r>
            <a:endParaRPr lang="en-US" sz="2400" dirty="0"/>
          </a:p>
        </p:txBody>
      </p:sp>
      <p:sp>
        <p:nvSpPr>
          <p:cNvPr id="3" name="Text 1"/>
          <p:cNvSpPr/>
          <p:nvPr/>
        </p:nvSpPr>
        <p:spPr>
          <a:xfrm>
            <a:off x="457200" y="1280160"/>
            <a:ext cx="8229600" cy="23431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実績の透明性という観点で分類すると、英進館（中高大すべて）・早稲田スクール（中学受験・高校受験）・熊本ゼミナール（中高大すべて）は公式サイトでテキストとして具体的な数値を確認できました。一方、全教研・能開センター・早稲田スクール（大学受験のみ）は合格実績が画像形式で抽出できず、創研学院の九州地区実績は年度不明の断片的情報にとどまりました。智翔館（中学受験・大学受験）・九大進学ゼミ（大学受験）は第三者サイト経由の過去年度情報のみで、直近年度の一次情報は確認できませんでした。</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合格実績比較（続き 1）</a:t>
            </a:r>
            <a:endParaRPr lang="en-US" sz="2400" dirty="0"/>
          </a:p>
        </p:txBody>
      </p:sp>
      <p:sp>
        <p:nvSpPr>
          <p:cNvPr id="3" name="Text 1"/>
          <p:cNvSpPr/>
          <p:nvPr/>
        </p:nvSpPr>
        <p:spPr>
          <a:xfrm>
            <a:off x="457200" y="1280160"/>
            <a:ext cx="8229600" cy="25622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力点の置き方も各社で異なります。英進館は中学受験から国公立大学まで全区分で圧倒的な実績を公式に打ち出しています。早稲田スクールは「熊本高校・済々黌高校合格者数39年連続県内No.1」を前面に押し出しており、高校受験特化の色が強い塾です。熊本ゼミナールも中高大全区分で実績を公開していますが、地元公立上位校（済々黌・第一・第二高校）への実績が目立ちます。智翔館は高校受験（地元佐世保エリア）に実績の重心があり、創研学院の九州3校舎の実績は8社中最も透明性が低い状況でした。全教研・能開センター・創研学院・九大進学ゼミの直近年度の具体的な合格者数は確認できませんでした。</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地域における認知・評判</a:t>
            </a:r>
            <a:endParaRPr lang="en-US" sz="24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以下は口コミサイト等の情報に基づく評判であり、断定的な事実ではなく「そのような評判・評価がある」という位置づけで記載します。</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地域における認知・評判 — 塾ナビ等の総合評価比較</a:t>
            </a:r>
            <a:endParaRPr lang="en-US" sz="2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48260"/>
                <a:gridCol w="2648094"/>
                <a:gridCol w="945111"/>
                <a:gridCol w="338813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総合評価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口コミ件数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特記</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3.48点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2,216件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講師・教材は高評価、料金は課題との声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3.51点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579件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カリキュラムへの好意的評価が多い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3.53点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638件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講師の指導力を評価する声、駐車場の指摘</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創研学院</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3.60点（西日本全体）</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602件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校舎別では3.64〜3.76点とばらつき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能開センター</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3.55〜3.59点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515〜619件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母数がブランド全体集計の可能性あり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地域における認知・評判 — 塾ナビ等の総合評価比較（続き 1）</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48260"/>
                <a:gridCol w="2648094"/>
                <a:gridCol w="945111"/>
                <a:gridCol w="338813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総合評価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口コミ件数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特記</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智翔館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3.36〜3.40点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33〜38件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8社中最も少ない口コミ件数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早稲田スクール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3.66〜3.68点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305〜326件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8社中最も高い評価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熊本ゼミナール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3.46〜4.1点（サイトにより差）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150〜309件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塾ナビと塾選で評価差が大きい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地域における認知・評判 — 塾ナビ等の総合評価比較（続き 2）</a:t>
            </a:r>
            <a:endParaRPr lang="en-US" sz="20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智翔館は口コミ件数が8社中突出して少なく（30件台）、評価点の単純比較には注意が必要です。8社共通で「講師・カリキュラムは好意的、料金には厳しい声がある」という傾向が見られました。早稲田スクールは全講師に「学研・塾講師検定」取得を義務付けるなど、講師品質への取り組みを対外的に発信している点が他社と異なります。能開センター・創研学院は口コミ件数が「校舎単体」か「ブランド全体（他地域込み）」かがサイト上で判然としない箇所があり、この点は数値の解釈に注意が必要です。</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差別化要因・ポジショニング</a:t>
            </a:r>
            <a:endParaRPr lang="en-US" sz="2400" dirty="0"/>
          </a:p>
        </p:txBody>
      </p:sp>
      <p:sp>
        <p:nvSpPr>
          <p:cNvPr id="3" name="Text 1"/>
          <p:cNvSpPr/>
          <p:nvPr/>
        </p:nvSpPr>
        <p:spPr>
          <a:xfrm>
            <a:off x="457200" y="1280160"/>
            <a:ext cx="8229600" cy="29051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九州最大級の規模と圧倒的な合格実績。M&amp;Aによる事業拡大と複数ベンダー併用型のDX投資が特徴です。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老舗ブランドの多角性（本体・エコール・Z-UP・マイスタ）と学研グループ入りによる経営基盤の安定が特徴です。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さなるグループの資本力を活かしたAI学トレ等のICT投資が特徴です。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創研学院：</a:t>
            </a:r>
            <a:pPr indent="0" marL="0">
              <a:buNone/>
            </a:pPr>
            <a:r>
              <a:rPr lang="en-US" sz="1800" dirty="0">
                <a:solidFill>
                  <a:srgbClr val="111827"/>
                </a:solidFill>
                <a:latin typeface="Noto Sans JP" pitchFamily="34" charset="0"/>
                <a:ea typeface="Noto Sans JP" pitchFamily="34" charset="-122"/>
                <a:cs typeface="Noto Sans JP" pitchFamily="34" charset="-120"/>
              </a:rPr>
              <a:t> 九州では3校のみの小規模展開ですが、関西発の全国ブランドとしてのノウハウ（kulumo等）を地方都市に持ち込む「越境型」の展開が特徴です。</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差別化要因・ポジショニング（続き 1）</a:t>
            </a:r>
            <a:endParaRPr lang="en-US" sz="2400" dirty="0"/>
          </a:p>
        </p:txBody>
      </p:sp>
      <p:sp>
        <p:nvSpPr>
          <p:cNvPr id="3" name="Text 1"/>
          <p:cNvSpPr/>
          <p:nvPr/>
        </p:nvSpPr>
        <p:spPr>
          <a:xfrm>
            <a:off x="457200" y="1280160"/>
            <a:ext cx="8229600" cy="30003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能開センター：</a:t>
            </a:r>
            <a:pPr indent="0" marL="0">
              <a:buNone/>
            </a:pPr>
            <a:r>
              <a:rPr lang="en-US" sz="1800" dirty="0">
                <a:solidFill>
                  <a:srgbClr val="111827"/>
                </a:solidFill>
                <a:latin typeface="Noto Sans JP" pitchFamily="34" charset="0"/>
                <a:ea typeface="Noto Sans JP" pitchFamily="34" charset="-122"/>
                <a:cs typeface="Noto Sans JP" pitchFamily="34" charset="-120"/>
              </a:rPr>
              <a:t> 同名の別会社が存在するブランドの複雑さを持ちつつ、対象地域では福岡・熊本・長崎という県境をまたいだ限定的なネットワークを持ち、東進・atama+等の外部提携を積極活用しています。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智翔館：</a:t>
            </a:r>
            <a:pPr indent="0" marL="0">
              <a:buNone/>
            </a:pPr>
            <a:r>
              <a:rPr lang="en-US" sz="1800" dirty="0">
                <a:solidFill>
                  <a:srgbClr val="111827"/>
                </a:solidFill>
                <a:latin typeface="Noto Sans JP" pitchFamily="34" charset="0"/>
                <a:ea typeface="Noto Sans JP" pitchFamily="34" charset="-122"/>
                <a:cs typeface="Noto Sans JP" pitchFamily="34" charset="-120"/>
              </a:rPr>
              <a:t> 長崎県北（佐世保）に特化したドミナント戦略と、資格スクール等の周辺事業の幅の広さが特徴です。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早稲田スクール：</a:t>
            </a:r>
            <a:pPr indent="0" marL="0">
              <a:buNone/>
            </a:pPr>
            <a:r>
              <a:rPr lang="en-US" sz="1800" dirty="0">
                <a:solidFill>
                  <a:srgbClr val="111827"/>
                </a:solidFill>
                <a:latin typeface="Noto Sans JP" pitchFamily="34" charset="0"/>
                <a:ea typeface="Noto Sans JP" pitchFamily="34" charset="-122"/>
                <a:cs typeface="Noto Sans JP" pitchFamily="34" charset="-120"/>
              </a:rPr>
              <a:t> 熊本県内での高校受験実績（39年連続No.1訴求）に特化したブランド力と、学研との資本業務提携による経営基盤の安定が特徴です。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熊本ゼミナール：</a:t>
            </a:r>
            <a:pPr indent="0" marL="0">
              <a:buNone/>
            </a:pPr>
            <a:r>
              <a:rPr lang="en-US" sz="1800" dirty="0">
                <a:solidFill>
                  <a:srgbClr val="111827"/>
                </a:solidFill>
                <a:latin typeface="Noto Sans JP" pitchFamily="34" charset="0"/>
                <a:ea typeface="Noto Sans JP" pitchFamily="34" charset="-122"/>
                <a:cs typeface="Noto Sans JP" pitchFamily="34" charset="-120"/>
              </a:rPr>
              <a:t> 熊本県内完結型で、BE studio・玉井式等の外部教材を組み合わせた「編集型」の商品構成が特徴です。</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差別化要因・ポジショニング（続き 2）</a:t>
            </a:r>
            <a:endParaRPr lang="en-US" sz="24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業界構造として整理すると、「広域展開×独立系」は英進館、「広域展開×グループ資本」は全教研・九大進学ゼミ、「限定展開×全国ブランドの越境」は創研学院・能開センター、「単県特化×地場独立系」は智翔館・熊本ゼミナール、「単県特化×グループ資本提携」は早稲田スクールに当てはまります。学研グループが全教研・早稲田スクールの2社に関与している点、東進の映像授業インフラを英進館・智翔館・早稲田スクールが共有している点は、「競合しつつ同じ基盤技術に依存する」という業界構造として注目に値します。</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a:t>
            </a:r>
            <a:endParaRPr lang="en-US" sz="2400" dirty="0"/>
          </a:p>
        </p:txBody>
      </p:sp>
      <p:sp>
        <p:nvSpPr>
          <p:cNvPr id="3" name="Text 1"/>
          <p:cNvSpPr/>
          <p:nvPr/>
        </p:nvSpPr>
        <p:spPr>
          <a:xfrm>
            <a:off x="457200" y="1280160"/>
            <a:ext cx="8229600" cy="33051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本セクションは特定企業への応募を推奨・非推奨する断定的な結論ではなく、比較検討のための材料として記載します。また、8社とも人事・採用・働き方に関する一次情報（求人サイト以外）は本調査の対象外としたため、あくまで運営概要・DX施策等から推測できる範囲の材料にとどまり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業界横断的な留意点：</a:t>
            </a:r>
            <a:pPr indent="0" marL="0">
              <a:buNone/>
            </a:pPr>
            <a:r>
              <a:rPr lang="en-US" sz="1800" dirty="0">
                <a:solidFill>
                  <a:srgbClr val="111827"/>
                </a:solidFill>
                <a:latin typeface="Noto Sans JP" pitchFamily="34" charset="0"/>
                <a:ea typeface="Noto Sans JP" pitchFamily="34" charset="-122"/>
                <a:cs typeface="Noto Sans JP" pitchFamily="34" charset="-120"/>
              </a:rPr>
              <a:t> 4県の総合学習塾市場は、独立系の大手広域展開（英進館）、グループ資本傘下の広域ブランド（全教研・九大進学ゼミ）、全国ブランドの限定的な地方展開（創研学院・能開センター）、単県特化の地場独立系（智翔館・熊本ゼミナール）、単県特化のグループ資本提携（早稲田スクール）が併存する構造です。「地場」を謳っていても実際の資本関係・展開範囲は多様である点は、企業研究・面接対策の両面で押さえておく価値があります。</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再就職検討への示唆（続き 1）</a:t>
            </a:r>
            <a:endParaRPr lang="en-US" sz="2400" dirty="0"/>
          </a:p>
        </p:txBody>
      </p:sp>
      <p:sp>
        <p:nvSpPr>
          <p:cNvPr id="3" name="Text 1"/>
          <p:cNvSpPr/>
          <p:nvPr/>
        </p:nvSpPr>
        <p:spPr>
          <a:xfrm>
            <a:off x="457200" y="1280160"/>
            <a:ext cx="8229600" cy="32194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独立系で意思決定が速い可能性がある一方、M&amp;Aによる組織変化が大きい可能性があります。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全教研・早稲田スクール：</a:t>
            </a:r>
            <a:pPr indent="0" marL="0">
              <a:buNone/>
            </a:pPr>
            <a:r>
              <a:rPr lang="en-US" sz="1800" dirty="0">
                <a:solidFill>
                  <a:srgbClr val="111827"/>
                </a:solidFill>
                <a:latin typeface="Noto Sans JP" pitchFamily="34" charset="0"/>
                <a:ea typeface="Noto Sans JP" pitchFamily="34" charset="-122"/>
                <a:cs typeface="Noto Sans JP" pitchFamily="34" charset="-120"/>
              </a:rPr>
              <a:t> ともに学研グループとの関係があり、グループ全体の教育コンテンツ・DX投資へのアクセスが期待できる可能性がある一方、単独での経営裁量の範囲は要確認事項です。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さなるグループのICT投資（AI学トレ等）を活用できる点は、生成AI・業務自動化に関心がある人材にとって魅力になり得ます。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創研学院・能開センター：</a:t>
            </a:r>
            <a:pPr indent="0" marL="0">
              <a:buNone/>
            </a:pPr>
            <a:r>
              <a:rPr lang="en-US" sz="1800" dirty="0">
                <a:solidFill>
                  <a:srgbClr val="111827"/>
                </a:solidFill>
                <a:latin typeface="Noto Sans JP" pitchFamily="34" charset="0"/>
                <a:ea typeface="Noto Sans JP" pitchFamily="34" charset="-122"/>
                <a:cs typeface="Noto Sans JP" pitchFamily="34" charset="-120"/>
              </a:rPr>
              <a:t> 対象地域では校舎数が少なく、現場裁量や地域内での意思決定スピードが期待できる可能性がある一方、全国ブランドの経営方針との整合を求められる可能性もあります。</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再就職検討への示唆（続き 2）</a:t>
            </a:r>
            <a:endParaRPr lang="en-US" sz="2400" dirty="0"/>
          </a:p>
        </p:txBody>
      </p:sp>
      <p:sp>
        <p:nvSpPr>
          <p:cNvPr id="3" name="Text 1"/>
          <p:cNvSpPr/>
          <p:nvPr/>
        </p:nvSpPr>
        <p:spPr>
          <a:xfrm>
            <a:off x="457200" y="1280160"/>
            <a:ext cx="8229600" cy="16097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智翔館・熊本ゼミナール：</a:t>
            </a:r>
            <a:pPr indent="0" marL="0">
              <a:buNone/>
            </a:pPr>
            <a:r>
              <a:rPr lang="en-US" sz="1800" dirty="0">
                <a:solidFill>
                  <a:srgbClr val="111827"/>
                </a:solidFill>
                <a:latin typeface="Noto Sans JP" pitchFamily="34" charset="0"/>
                <a:ea typeface="Noto Sans JP" pitchFamily="34" charset="-122"/>
                <a:cs typeface="Noto Sans JP" pitchFamily="34" charset="-120"/>
              </a:rPr>
              <a:t> 単県特化の地場独立系企業として、地域内での知名度構築・意思決定の柔軟性が期待できる一方、財務・待遇面の情報開示は他社より薄い状況です。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早稲田スクール：</a:t>
            </a:r>
            <a:pPr indent="0" marL="0">
              <a:buNone/>
            </a:pPr>
            <a:r>
              <a:rPr lang="en-US" sz="1800" dirty="0">
                <a:solidFill>
                  <a:srgbClr val="111827"/>
                </a:solidFill>
                <a:latin typeface="Noto Sans JP" pitchFamily="34" charset="0"/>
                <a:ea typeface="Noto Sans JP" pitchFamily="34" charset="-122"/>
                <a:cs typeface="Noto Sans JP" pitchFamily="34" charset="-120"/>
              </a:rPr>
              <a:t> 高校受験実績への強いブランドフォーカスがあり、そのポジショニングに関わる業務経験を積みたい人材には参考になる可能性があります。</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2026-07-06T14:03:50Z</dcterms:created>
  <dcterms:modified xsi:type="dcterms:W3CDTF">2026-07-06T14:03:50Z</dcterms:modified>
</cp:coreProperties>
</file>